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73" r:id="rId8"/>
    <p:sldId id="274" r:id="rId9"/>
    <p:sldId id="263" r:id="rId10"/>
    <p:sldId id="264" r:id="rId11"/>
    <p:sldId id="265" r:id="rId12"/>
    <p:sldId id="266" r:id="rId13"/>
    <p:sldId id="267" r:id="rId14"/>
    <p:sldId id="268"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6/24/2026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4327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6/24/2026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5702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6/24/2026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7399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6/24/2026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0192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6/24/2026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821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6/24/2026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40696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6/24/2026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78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6/24/2026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7445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6/24/2026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1428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6/24/2026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063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6/24/2026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49941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6/24/2026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18546928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0B050B-E3EE-E709-6A80-CE187B57203A}"/>
              </a:ext>
            </a:extLst>
          </p:cNvPr>
          <p:cNvSpPr>
            <a:spLocks noGrp="1"/>
          </p:cNvSpPr>
          <p:nvPr>
            <p:ph type="ctrTitle"/>
          </p:nvPr>
        </p:nvSpPr>
        <p:spPr>
          <a:xfrm>
            <a:off x="612648" y="600074"/>
            <a:ext cx="6035040" cy="1529932"/>
          </a:xfrm>
        </p:spPr>
        <p:txBody>
          <a:bodyPr vert="horz" lIns="91440" tIns="45720" rIns="91440" bIns="45720" rtlCol="0" anchor="b">
            <a:normAutofit/>
          </a:bodyPr>
          <a:lstStyle/>
          <a:p>
            <a:pPr algn="l"/>
            <a:r>
              <a:rPr lang="en-US" sz="3600" b="1" kern="1200" dirty="0">
                <a:solidFill>
                  <a:schemeClr val="tx1"/>
                </a:solidFill>
                <a:latin typeface="+mj-lt"/>
                <a:ea typeface="+mj-ea"/>
                <a:cs typeface="+mj-cs"/>
              </a:rPr>
              <a:t>Tên đề tài: Ứng dụng Thi Trắc Nghiệm Trên Android</a:t>
            </a:r>
          </a:p>
        </p:txBody>
      </p:sp>
      <p:sp>
        <p:nvSpPr>
          <p:cNvPr id="3" name="Subtitle 2">
            <a:extLst>
              <a:ext uri="{FF2B5EF4-FFF2-40B4-BE49-F238E27FC236}">
                <a16:creationId xmlns:a16="http://schemas.microsoft.com/office/drawing/2014/main" id="{F86211CC-E721-34ED-8AE5-22B5E4E38860}"/>
              </a:ext>
            </a:extLst>
          </p:cNvPr>
          <p:cNvSpPr>
            <a:spLocks noGrp="1"/>
          </p:cNvSpPr>
          <p:nvPr>
            <p:ph type="subTitle" idx="1"/>
          </p:nvPr>
        </p:nvSpPr>
        <p:spPr>
          <a:xfrm>
            <a:off x="612647" y="2212848"/>
            <a:ext cx="6035041" cy="4096512"/>
          </a:xfrm>
        </p:spPr>
        <p:txBody>
          <a:bodyPr vert="horz" lIns="91440" tIns="45720" rIns="91440" bIns="45720" rtlCol="0">
            <a:normAutofit/>
          </a:bodyPr>
          <a:lstStyle/>
          <a:p>
            <a:pPr indent="-228600" algn="l">
              <a:buFont typeface="Arial" panose="020B0604020202020204" pitchFamily="34" charset="0"/>
              <a:buChar char="•"/>
            </a:pPr>
            <a:r>
              <a:rPr lang="en-US"/>
              <a:t>Môn học: Lập trình Mobile cơ bản</a:t>
            </a:r>
          </a:p>
          <a:p>
            <a:pPr indent="-228600" algn="l">
              <a:buFont typeface="Arial" panose="020B0604020202020204" pitchFamily="34" charset="0"/>
              <a:buChar char="•"/>
            </a:pPr>
            <a:r>
              <a:rPr lang="en-US"/>
              <a:t>Giảng viên hướng dẫn: Bùi Đức Thọ</a:t>
            </a:r>
          </a:p>
          <a:p>
            <a:pPr indent="-228600" algn="l">
              <a:buFont typeface="Arial" panose="020B0604020202020204" pitchFamily="34" charset="0"/>
              <a:buChar char="•"/>
            </a:pPr>
            <a:r>
              <a:rPr lang="en-US"/>
              <a:t>Họ và tên sinh viên: Cao Duy Mạnh</a:t>
            </a:r>
          </a:p>
          <a:p>
            <a:pPr indent="-228600" algn="l">
              <a:buFont typeface="Arial" panose="020B0604020202020204" pitchFamily="34" charset="0"/>
              <a:buChar char="•"/>
            </a:pPr>
            <a:r>
              <a:rPr lang="en-US"/>
              <a:t>Mã sinh viên: 12523099</a:t>
            </a:r>
          </a:p>
          <a:p>
            <a:pPr indent="-228600" algn="l">
              <a:buFont typeface="Arial" panose="020B0604020202020204" pitchFamily="34" charset="0"/>
              <a:buChar char="•"/>
            </a:pPr>
            <a:r>
              <a:rPr lang="en-US"/>
              <a:t>Lớp: 12523T.1</a:t>
            </a:r>
          </a:p>
        </p:txBody>
      </p:sp>
      <p:pic>
        <p:nvPicPr>
          <p:cNvPr id="4" name="Picture 3">
            <a:extLst>
              <a:ext uri="{FF2B5EF4-FFF2-40B4-BE49-F238E27FC236}">
                <a16:creationId xmlns:a16="http://schemas.microsoft.com/office/drawing/2014/main" id="{477F8A22-F19A-0008-6549-32D6BF73E227}"/>
              </a:ext>
            </a:extLst>
          </p:cNvPr>
          <p:cNvPicPr>
            <a:picLocks noChangeAspect="1"/>
          </p:cNvPicPr>
          <p:nvPr/>
        </p:nvPicPr>
        <p:blipFill>
          <a:blip r:embed="rId2"/>
          <a:srcRect l="3607" r="8234" b="-3"/>
          <a:stretch>
            <a:fillRect/>
          </a:stretch>
        </p:blipFill>
        <p:spPr>
          <a:xfrm>
            <a:off x="7345680" y="10"/>
            <a:ext cx="4846320" cy="6857990"/>
          </a:xfrm>
          <a:prstGeom prst="rect">
            <a:avLst/>
          </a:prstGeom>
        </p:spPr>
      </p:pic>
    </p:spTree>
    <p:extLst>
      <p:ext uri="{BB962C8B-B14F-4D97-AF65-F5344CB8AC3E}">
        <p14:creationId xmlns:p14="http://schemas.microsoft.com/office/powerpoint/2010/main" val="279543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F8AE-7CFD-A469-4EB4-F0BCA5D19675}"/>
              </a:ext>
            </a:extLst>
          </p:cNvPr>
          <p:cNvSpPr>
            <a:spLocks noGrp="1"/>
          </p:cNvSpPr>
          <p:nvPr>
            <p:ph type="title"/>
          </p:nvPr>
        </p:nvSpPr>
        <p:spPr/>
        <p:txBody>
          <a:bodyPr/>
          <a:lstStyle/>
          <a:p>
            <a:r>
              <a:rPr lang="vi-VN"/>
              <a:t>Giới thiệu đề tài</a:t>
            </a:r>
            <a:endParaRPr lang="en-US"/>
          </a:p>
        </p:txBody>
      </p:sp>
      <p:sp>
        <p:nvSpPr>
          <p:cNvPr id="3" name="Content Placeholder 2">
            <a:extLst>
              <a:ext uri="{FF2B5EF4-FFF2-40B4-BE49-F238E27FC236}">
                <a16:creationId xmlns:a16="http://schemas.microsoft.com/office/drawing/2014/main" id="{172BEB0E-C624-D57A-97C4-476E40A055F6}"/>
              </a:ext>
            </a:extLst>
          </p:cNvPr>
          <p:cNvSpPr>
            <a:spLocks noGrp="1"/>
          </p:cNvSpPr>
          <p:nvPr>
            <p:ph idx="1"/>
          </p:nvPr>
        </p:nvSpPr>
        <p:spPr/>
        <p:txBody>
          <a:bodyPr/>
          <a:lstStyle/>
          <a:p>
            <a:pPr marL="0" indent="0">
              <a:buNone/>
            </a:pPr>
            <a:r>
              <a:rPr lang="en-US" b="1"/>
              <a:t>Bài toán</a:t>
            </a:r>
          </a:p>
          <a:p>
            <a:pPr>
              <a:buFont typeface="Wingdings" panose="05000000000000000000" pitchFamily="2" charset="2"/>
              <a:buChar char="ü"/>
            </a:pPr>
            <a:r>
              <a:rPr lang="en-US"/>
              <a:t>Nhu cầu học tập và kiểm tra kiến thức trên thiết bị di động ngày càng tăng. </a:t>
            </a:r>
          </a:p>
          <a:p>
            <a:pPr>
              <a:buFont typeface="Wingdings" panose="05000000000000000000" pitchFamily="2" charset="2"/>
              <a:buChar char="ü"/>
            </a:pPr>
            <a:r>
              <a:rPr lang="en-US"/>
              <a:t>Cần một ứng dụng hỗ trợ tạo đề thi, làm bài thi và quản lý kết quả. </a:t>
            </a:r>
          </a:p>
          <a:p>
            <a:pPr marL="0" indent="0">
              <a:buNone/>
            </a:pPr>
            <a:r>
              <a:rPr lang="en-US" b="1"/>
              <a:t>Mục tiêu</a:t>
            </a:r>
          </a:p>
          <a:p>
            <a:pPr>
              <a:buFont typeface="Wingdings" panose="05000000000000000000" pitchFamily="2" charset="2"/>
              <a:buChar char="ü"/>
            </a:pPr>
            <a:r>
              <a:rPr lang="en-US"/>
              <a:t>Xây dựng ứng dụng thi trắc nghiệm trên Android. </a:t>
            </a:r>
          </a:p>
          <a:p>
            <a:pPr>
              <a:buFont typeface="Wingdings" panose="05000000000000000000" pitchFamily="2" charset="2"/>
              <a:buChar char="ü"/>
            </a:pPr>
            <a:r>
              <a:rPr lang="en-US"/>
              <a:t>Quản lý đề thi và câu hỏi. </a:t>
            </a:r>
          </a:p>
          <a:p>
            <a:pPr>
              <a:buFont typeface="Wingdings" panose="05000000000000000000" pitchFamily="2" charset="2"/>
              <a:buChar char="ü"/>
            </a:pPr>
            <a:r>
              <a:rPr lang="en-US"/>
              <a:t>Chấm điểm tự động. </a:t>
            </a:r>
          </a:p>
          <a:p>
            <a:pPr>
              <a:buFont typeface="Wingdings" panose="05000000000000000000" pitchFamily="2" charset="2"/>
              <a:buChar char="ü"/>
            </a:pPr>
            <a:r>
              <a:rPr lang="en-US"/>
              <a:t>Lưu lịch sử thi. </a:t>
            </a:r>
          </a:p>
        </p:txBody>
      </p:sp>
    </p:spTree>
    <p:extLst>
      <p:ext uri="{BB962C8B-B14F-4D97-AF65-F5344CB8AC3E}">
        <p14:creationId xmlns:p14="http://schemas.microsoft.com/office/powerpoint/2010/main" val="335047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C555-D18C-B7EE-8AC4-3D1581AA7F15}"/>
              </a:ext>
            </a:extLst>
          </p:cNvPr>
          <p:cNvSpPr>
            <a:spLocks noGrp="1"/>
          </p:cNvSpPr>
          <p:nvPr>
            <p:ph type="title"/>
          </p:nvPr>
        </p:nvSpPr>
        <p:spPr/>
        <p:txBody>
          <a:bodyPr/>
          <a:lstStyle/>
          <a:p>
            <a:r>
              <a:rPr lang="en-US"/>
              <a:t>Phân tích yêu cầu</a:t>
            </a:r>
          </a:p>
        </p:txBody>
      </p:sp>
      <p:sp>
        <p:nvSpPr>
          <p:cNvPr id="3" name="Content Placeholder 2">
            <a:extLst>
              <a:ext uri="{FF2B5EF4-FFF2-40B4-BE49-F238E27FC236}">
                <a16:creationId xmlns:a16="http://schemas.microsoft.com/office/drawing/2014/main" id="{A33CA318-DA76-4AFD-8D87-98F06754F3A4}"/>
              </a:ext>
            </a:extLst>
          </p:cNvPr>
          <p:cNvSpPr>
            <a:spLocks noGrp="1"/>
          </p:cNvSpPr>
          <p:nvPr>
            <p:ph idx="1"/>
          </p:nvPr>
        </p:nvSpPr>
        <p:spPr/>
        <p:txBody>
          <a:bodyPr>
            <a:normAutofit fontScale="62500" lnSpcReduction="20000"/>
          </a:bodyPr>
          <a:lstStyle/>
          <a:p>
            <a:pPr marL="0" indent="0">
              <a:buNone/>
            </a:pPr>
            <a:r>
              <a:rPr lang="vi-VN" b="1">
                <a:sym typeface="Wingdings" panose="05000000000000000000" pitchFamily="2" charset="2"/>
              </a:rPr>
              <a:t> </a:t>
            </a:r>
            <a:r>
              <a:rPr lang="en-US" b="1"/>
              <a:t>Đối tượng sử dụng</a:t>
            </a:r>
          </a:p>
          <a:p>
            <a:pPr>
              <a:buFont typeface="Wingdings" panose="05000000000000000000" pitchFamily="2" charset="2"/>
              <a:buChar char="ü"/>
            </a:pPr>
            <a:r>
              <a:rPr lang="en-US"/>
              <a:t>Người dùng (User) </a:t>
            </a:r>
          </a:p>
          <a:p>
            <a:pPr>
              <a:buFont typeface="Wingdings" panose="05000000000000000000" pitchFamily="2" charset="2"/>
              <a:buChar char="ü"/>
            </a:pPr>
            <a:r>
              <a:rPr lang="en-US"/>
              <a:t>Quản trị viên (Admin) </a:t>
            </a:r>
          </a:p>
          <a:p>
            <a:pPr marL="0" indent="0">
              <a:buNone/>
            </a:pPr>
            <a:r>
              <a:rPr lang="vi-VN" b="1">
                <a:sym typeface="Wingdings" panose="05000000000000000000" pitchFamily="2" charset="2"/>
              </a:rPr>
              <a:t> </a:t>
            </a:r>
            <a:r>
              <a:rPr lang="en-US" b="1"/>
              <a:t>Chức năng chính</a:t>
            </a:r>
          </a:p>
          <a:p>
            <a:pPr marL="0" indent="0">
              <a:buNone/>
            </a:pPr>
            <a:r>
              <a:rPr lang="en-US" b="1"/>
              <a:t>User</a:t>
            </a:r>
            <a:endParaRPr lang="en-US"/>
          </a:p>
          <a:p>
            <a:pPr>
              <a:buFont typeface="Wingdings" panose="05000000000000000000" pitchFamily="2" charset="2"/>
              <a:buChar char="ü"/>
            </a:pPr>
            <a:r>
              <a:rPr lang="en-US"/>
              <a:t>Đăng ký </a:t>
            </a:r>
          </a:p>
          <a:p>
            <a:pPr>
              <a:buFont typeface="Wingdings" panose="05000000000000000000" pitchFamily="2" charset="2"/>
              <a:buChar char="ü"/>
            </a:pPr>
            <a:r>
              <a:rPr lang="en-US"/>
              <a:t>Đăng nhập </a:t>
            </a:r>
          </a:p>
          <a:p>
            <a:pPr>
              <a:buFont typeface="Wingdings" panose="05000000000000000000" pitchFamily="2" charset="2"/>
              <a:buChar char="ü"/>
            </a:pPr>
            <a:r>
              <a:rPr lang="en-US"/>
              <a:t>Làm bài thi </a:t>
            </a:r>
          </a:p>
          <a:p>
            <a:pPr>
              <a:buFont typeface="Wingdings" panose="05000000000000000000" pitchFamily="2" charset="2"/>
              <a:buChar char="ü"/>
            </a:pPr>
            <a:r>
              <a:rPr lang="en-US"/>
              <a:t>Xem kết quả </a:t>
            </a:r>
          </a:p>
          <a:p>
            <a:pPr>
              <a:buFont typeface="Wingdings" panose="05000000000000000000" pitchFamily="2" charset="2"/>
              <a:buChar char="ü"/>
            </a:pPr>
            <a:r>
              <a:rPr lang="en-US"/>
              <a:t>Xem lịch sử thi </a:t>
            </a:r>
          </a:p>
          <a:p>
            <a:pPr marL="0" indent="0">
              <a:buNone/>
            </a:pPr>
            <a:r>
              <a:rPr lang="en-US" b="1"/>
              <a:t>Admin</a:t>
            </a:r>
            <a:endParaRPr lang="en-US"/>
          </a:p>
          <a:p>
            <a:pPr>
              <a:buFont typeface="Wingdings" panose="05000000000000000000" pitchFamily="2" charset="2"/>
              <a:buChar char="ü"/>
            </a:pPr>
            <a:r>
              <a:rPr lang="en-US"/>
              <a:t>Quản lý đề thi </a:t>
            </a:r>
          </a:p>
          <a:p>
            <a:pPr>
              <a:buFont typeface="Wingdings" panose="05000000000000000000" pitchFamily="2" charset="2"/>
              <a:buChar char="ü"/>
            </a:pPr>
            <a:r>
              <a:rPr lang="en-US"/>
              <a:t>Quản lý câu hỏi </a:t>
            </a:r>
          </a:p>
          <a:p>
            <a:pPr>
              <a:buFont typeface="Wingdings" panose="05000000000000000000" pitchFamily="2" charset="2"/>
              <a:buChar char="ü"/>
            </a:pPr>
            <a:r>
              <a:rPr lang="en-US"/>
              <a:t>Thống kê</a:t>
            </a:r>
          </a:p>
          <a:p>
            <a:endParaRPr lang="en-US"/>
          </a:p>
        </p:txBody>
      </p:sp>
    </p:spTree>
    <p:extLst>
      <p:ext uri="{BB962C8B-B14F-4D97-AF65-F5344CB8AC3E}">
        <p14:creationId xmlns:p14="http://schemas.microsoft.com/office/powerpoint/2010/main" val="1348222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8C5F-962E-5935-BE7B-97E758512F61}"/>
              </a:ext>
            </a:extLst>
          </p:cNvPr>
          <p:cNvSpPr>
            <a:spLocks noGrp="1"/>
          </p:cNvSpPr>
          <p:nvPr>
            <p:ph type="title"/>
          </p:nvPr>
        </p:nvSpPr>
        <p:spPr/>
        <p:txBody>
          <a:bodyPr/>
          <a:lstStyle/>
          <a:p>
            <a:r>
              <a:rPr lang="vi-VN"/>
              <a:t>Biểu đồ use case tổng quát</a:t>
            </a:r>
            <a:endParaRPr lang="en-US"/>
          </a:p>
        </p:txBody>
      </p:sp>
      <p:pic>
        <p:nvPicPr>
          <p:cNvPr id="4" name="Content Placeholder 3">
            <a:extLst>
              <a:ext uri="{FF2B5EF4-FFF2-40B4-BE49-F238E27FC236}">
                <a16:creationId xmlns:a16="http://schemas.microsoft.com/office/drawing/2014/main" id="{3BF33DD3-5393-7691-5DC6-3EAE57C4858B}"/>
              </a:ext>
            </a:extLst>
          </p:cNvPr>
          <p:cNvPicPr>
            <a:picLocks noGrp="1" noChangeAspect="1"/>
          </p:cNvPicPr>
          <p:nvPr>
            <p:ph idx="1"/>
          </p:nvPr>
        </p:nvPicPr>
        <p:blipFill>
          <a:blip r:embed="rId2"/>
          <a:stretch>
            <a:fillRect/>
          </a:stretch>
        </p:blipFill>
        <p:spPr>
          <a:xfrm>
            <a:off x="1051359" y="1330900"/>
            <a:ext cx="9776155" cy="5194591"/>
          </a:xfrm>
          <a:prstGeom prst="rect">
            <a:avLst/>
          </a:prstGeom>
        </p:spPr>
      </p:pic>
    </p:spTree>
    <p:extLst>
      <p:ext uri="{BB962C8B-B14F-4D97-AF65-F5344CB8AC3E}">
        <p14:creationId xmlns:p14="http://schemas.microsoft.com/office/powerpoint/2010/main" val="159454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6B6467-EA71-D907-684F-4F193FB48837}"/>
              </a:ext>
            </a:extLst>
          </p:cNvPr>
          <p:cNvSpPr>
            <a:spLocks noGrp="1"/>
          </p:cNvSpPr>
          <p:nvPr>
            <p:ph type="title"/>
          </p:nvPr>
        </p:nvSpPr>
        <p:spPr>
          <a:xfrm>
            <a:off x="5568534" y="603504"/>
            <a:ext cx="5916169" cy="847227"/>
          </a:xfrm>
        </p:spPr>
        <p:txBody>
          <a:bodyPr vert="horz" lIns="91440" tIns="45720" rIns="91440" bIns="45720" rtlCol="0" anchor="b">
            <a:normAutofit/>
          </a:bodyPr>
          <a:lstStyle/>
          <a:p>
            <a:r>
              <a:rPr lang="en-US"/>
              <a:t>Biểu đồ lớp thực thể</a:t>
            </a:r>
          </a:p>
        </p:txBody>
      </p:sp>
      <p:pic>
        <p:nvPicPr>
          <p:cNvPr id="4" name="Content Placeholder 3">
            <a:extLst>
              <a:ext uri="{FF2B5EF4-FFF2-40B4-BE49-F238E27FC236}">
                <a16:creationId xmlns:a16="http://schemas.microsoft.com/office/drawing/2014/main" id="{05502266-D2FA-328F-A464-05654EE7262F}"/>
              </a:ext>
            </a:extLst>
          </p:cNvPr>
          <p:cNvPicPr>
            <a:picLocks noChangeAspect="1"/>
          </p:cNvPicPr>
          <p:nvPr/>
        </p:nvPicPr>
        <p:blipFill>
          <a:blip r:embed="rId2"/>
          <a:srcRect t="1963" r="2" b="623"/>
          <a:stretch>
            <a:fillRect/>
          </a:stretch>
        </p:blipFill>
        <p:spPr>
          <a:xfrm>
            <a:off x="20" y="10"/>
            <a:ext cx="4910308" cy="6857990"/>
          </a:xfrm>
          <a:prstGeom prst="rect">
            <a:avLst/>
          </a:prstGeom>
        </p:spPr>
      </p:pic>
      <p:sp>
        <p:nvSpPr>
          <p:cNvPr id="13" name="Content Placeholder 12">
            <a:extLst>
              <a:ext uri="{FF2B5EF4-FFF2-40B4-BE49-F238E27FC236}">
                <a16:creationId xmlns:a16="http://schemas.microsoft.com/office/drawing/2014/main" id="{32E68BE7-BB45-9420-8367-76DA82019A91}"/>
              </a:ext>
            </a:extLst>
          </p:cNvPr>
          <p:cNvSpPr>
            <a:spLocks noGrp="1"/>
          </p:cNvSpPr>
          <p:nvPr>
            <p:ph idx="1"/>
          </p:nvPr>
        </p:nvSpPr>
        <p:spPr>
          <a:xfrm>
            <a:off x="5568533" y="1688123"/>
            <a:ext cx="5916169" cy="4621237"/>
          </a:xfrm>
        </p:spPr>
        <p:txBody>
          <a:bodyPr>
            <a:normAutofit fontScale="85000" lnSpcReduction="20000"/>
          </a:bodyPr>
          <a:lstStyle/>
          <a:p>
            <a:pPr marL="0" indent="0">
              <a:buNone/>
            </a:pPr>
            <a:r>
              <a:rPr lang="en-US" b="1"/>
              <a:t>Các mối quan hệ chính</a:t>
            </a:r>
          </a:p>
          <a:p>
            <a:pPr>
              <a:buFont typeface="Wingdings" panose="05000000000000000000" pitchFamily="2" charset="2"/>
              <a:buChar char="ü"/>
            </a:pPr>
            <a:r>
              <a:rPr lang="en-US"/>
              <a:t>TaiKhoan (1) — (0..*) BaiThi </a:t>
            </a:r>
          </a:p>
          <a:p>
            <a:pPr marL="228600" lvl="1" indent="0">
              <a:buNone/>
            </a:pPr>
            <a:r>
              <a:rPr lang="vi-VN">
                <a:sym typeface="Wingdings" panose="05000000000000000000" pitchFamily="2" charset="2"/>
              </a:rPr>
              <a:t> </a:t>
            </a:r>
            <a:r>
              <a:rPr lang="en-US"/>
              <a:t>Một người dùng có thể thực hiện nhiều bài thi. </a:t>
            </a:r>
          </a:p>
          <a:p>
            <a:pPr>
              <a:buFont typeface="Wingdings" panose="05000000000000000000" pitchFamily="2" charset="2"/>
              <a:buChar char="ü"/>
            </a:pPr>
            <a:r>
              <a:rPr lang="en-US"/>
              <a:t>DeThi (1) — (0..*) BaiThi </a:t>
            </a:r>
          </a:p>
          <a:p>
            <a:pPr marL="228600" lvl="1" indent="0">
              <a:buNone/>
            </a:pPr>
            <a:r>
              <a:rPr lang="vi-VN">
                <a:sym typeface="Wingdings" panose="05000000000000000000" pitchFamily="2" charset="2"/>
              </a:rPr>
              <a:t> </a:t>
            </a:r>
            <a:r>
              <a:rPr lang="en-US"/>
              <a:t>Một đề thi có thể được nhiều người làm. </a:t>
            </a:r>
          </a:p>
          <a:p>
            <a:pPr>
              <a:buFont typeface="Wingdings" panose="05000000000000000000" pitchFamily="2" charset="2"/>
              <a:buChar char="ü"/>
            </a:pPr>
            <a:r>
              <a:rPr lang="en-US"/>
              <a:t>DeThi (1) ♦— (1..*) CauHoi </a:t>
            </a:r>
          </a:p>
          <a:p>
            <a:pPr marL="228600" lvl="1" indent="0">
              <a:buNone/>
            </a:pPr>
            <a:r>
              <a:rPr lang="vi-VN">
                <a:sym typeface="Wingdings" panose="05000000000000000000" pitchFamily="2" charset="2"/>
              </a:rPr>
              <a:t> </a:t>
            </a:r>
            <a:r>
              <a:rPr lang="en-US"/>
              <a:t>Quan hệ hợp thành (Composition). </a:t>
            </a:r>
          </a:p>
          <a:p>
            <a:pPr marL="228600" lvl="1" indent="0">
              <a:buNone/>
            </a:pPr>
            <a:r>
              <a:rPr lang="vi-VN">
                <a:sym typeface="Wingdings" panose="05000000000000000000" pitchFamily="2" charset="2"/>
              </a:rPr>
              <a:t> </a:t>
            </a:r>
            <a:r>
              <a:rPr lang="en-US"/>
              <a:t>Xóa đề thi thì toàn bộ câu hỏi thuộc đề cũng bị xóa. </a:t>
            </a:r>
          </a:p>
          <a:p>
            <a:pPr>
              <a:buFont typeface="Wingdings" panose="05000000000000000000" pitchFamily="2" charset="2"/>
              <a:buChar char="ü"/>
            </a:pPr>
            <a:r>
              <a:rPr lang="en-US"/>
              <a:t>BaiThi (1) ♦— (1..*) ChiTietBaiThi </a:t>
            </a:r>
          </a:p>
          <a:p>
            <a:pPr marL="228600" lvl="1" indent="0">
              <a:buNone/>
            </a:pPr>
            <a:r>
              <a:rPr lang="vi-VN">
                <a:sym typeface="Wingdings" panose="05000000000000000000" pitchFamily="2" charset="2"/>
              </a:rPr>
              <a:t> </a:t>
            </a:r>
            <a:r>
              <a:rPr lang="en-US"/>
              <a:t>Một bài thi gồm nhiều chi tiết bài thi. </a:t>
            </a:r>
          </a:p>
          <a:p>
            <a:pPr marL="228600" lvl="1" indent="0">
              <a:buNone/>
            </a:pPr>
            <a:r>
              <a:rPr lang="vi-VN">
                <a:sym typeface="Wingdings" panose="05000000000000000000" pitchFamily="2" charset="2"/>
              </a:rPr>
              <a:t> </a:t>
            </a:r>
            <a:r>
              <a:rPr lang="en-US"/>
              <a:t>Mỗi chi tiết lưu đáp án đã chọn cho một câu hỏi. </a:t>
            </a:r>
          </a:p>
          <a:p>
            <a:pPr>
              <a:buFont typeface="Wingdings" panose="05000000000000000000" pitchFamily="2" charset="2"/>
              <a:buChar char="ü"/>
            </a:pPr>
            <a:r>
              <a:rPr lang="en-US"/>
              <a:t>BaiThi (1) — (1) KetQua </a:t>
            </a:r>
          </a:p>
          <a:p>
            <a:pPr marL="228600" lvl="1" indent="0">
              <a:buNone/>
            </a:pPr>
            <a:r>
              <a:rPr lang="vi-VN">
                <a:sym typeface="Wingdings" panose="05000000000000000000" pitchFamily="2" charset="2"/>
              </a:rPr>
              <a:t> </a:t>
            </a:r>
            <a:r>
              <a:rPr lang="en-US"/>
              <a:t>Mỗi bài thi có một kết quả tương ứng.</a:t>
            </a:r>
          </a:p>
          <a:p>
            <a:pPr marL="0" indent="0">
              <a:buNone/>
            </a:pPr>
            <a:endParaRPr lang="en-US" sz="1800"/>
          </a:p>
        </p:txBody>
      </p:sp>
    </p:spTree>
    <p:extLst>
      <p:ext uri="{BB962C8B-B14F-4D97-AF65-F5344CB8AC3E}">
        <p14:creationId xmlns:p14="http://schemas.microsoft.com/office/powerpoint/2010/main" val="3562610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BB83-851F-A464-DCCD-E3464193BFBD}"/>
              </a:ext>
            </a:extLst>
          </p:cNvPr>
          <p:cNvSpPr>
            <a:spLocks noGrp="1"/>
          </p:cNvSpPr>
          <p:nvPr>
            <p:ph type="title"/>
          </p:nvPr>
        </p:nvSpPr>
        <p:spPr/>
        <p:txBody>
          <a:bodyPr/>
          <a:lstStyle/>
          <a:p>
            <a:r>
              <a:rPr lang="vi-VN"/>
              <a:t>Thiết kế cơ sở dữ liệu và kiến trúc hệ thống</a:t>
            </a:r>
            <a:endParaRPr lang="en-US"/>
          </a:p>
        </p:txBody>
      </p:sp>
      <p:sp>
        <p:nvSpPr>
          <p:cNvPr id="3" name="Content Placeholder 2">
            <a:extLst>
              <a:ext uri="{FF2B5EF4-FFF2-40B4-BE49-F238E27FC236}">
                <a16:creationId xmlns:a16="http://schemas.microsoft.com/office/drawing/2014/main" id="{7A9AB802-FF0B-0398-1B98-342C04E6FE2E}"/>
              </a:ext>
            </a:extLst>
          </p:cNvPr>
          <p:cNvSpPr>
            <a:spLocks noGrp="1"/>
          </p:cNvSpPr>
          <p:nvPr>
            <p:ph idx="1"/>
          </p:nvPr>
        </p:nvSpPr>
        <p:spPr>
          <a:xfrm>
            <a:off x="612648" y="1381424"/>
            <a:ext cx="5946415" cy="4593828"/>
          </a:xfrm>
        </p:spPr>
        <p:txBody>
          <a:bodyPr>
            <a:normAutofit fontScale="92500" lnSpcReduction="20000"/>
          </a:bodyPr>
          <a:lstStyle/>
          <a:p>
            <a:pPr marL="0" indent="0">
              <a:buNone/>
            </a:pPr>
            <a:r>
              <a:rPr lang="en-US" sz="1500" b="1"/>
              <a:t>Cơ sở dữ liệu sử dụng</a:t>
            </a:r>
          </a:p>
          <a:p>
            <a:pPr>
              <a:buFont typeface="Wingdings" panose="05000000000000000000" pitchFamily="2" charset="2"/>
              <a:buChar char="ü"/>
            </a:pPr>
            <a:r>
              <a:rPr lang="en-US" sz="1500"/>
              <a:t>Hệ quản trị cơ sở dữ liệu: </a:t>
            </a:r>
            <a:r>
              <a:rPr lang="en-US" sz="1500" b="1"/>
              <a:t>SQLite</a:t>
            </a:r>
            <a:r>
              <a:rPr lang="en-US" sz="1500"/>
              <a:t> </a:t>
            </a:r>
          </a:p>
          <a:p>
            <a:pPr>
              <a:buFont typeface="Wingdings" panose="05000000000000000000" pitchFamily="2" charset="2"/>
              <a:buChar char="ü"/>
            </a:pPr>
            <a:r>
              <a:rPr lang="en-US" sz="1500"/>
              <a:t>Dữ liệu được lưu cục bộ trên thiết bị Android. </a:t>
            </a:r>
          </a:p>
          <a:p>
            <a:pPr>
              <a:buFont typeface="Wingdings" panose="05000000000000000000" pitchFamily="2" charset="2"/>
              <a:buChar char="ü"/>
            </a:pPr>
            <a:r>
              <a:rPr lang="en-US" sz="1500"/>
              <a:t>Quản lý thông qua lớp DatabaseHelper và các lớp DAO</a:t>
            </a:r>
            <a:r>
              <a:rPr lang="en-US"/>
              <a:t>.</a:t>
            </a:r>
          </a:p>
          <a:p>
            <a:pPr marL="0" indent="0">
              <a:buNone/>
            </a:pPr>
            <a:r>
              <a:rPr lang="en-US" sz="1500" b="1"/>
              <a:t>Các bảng dữ liệu chính</a:t>
            </a:r>
            <a:endParaRPr lang="vi-VN" sz="1500" b="1"/>
          </a:p>
          <a:p>
            <a:pPr>
              <a:buFont typeface="Wingdings" panose="05000000000000000000" pitchFamily="2" charset="2"/>
              <a:buChar char="ü"/>
            </a:pPr>
            <a:r>
              <a:rPr lang="vi-VN" sz="1500"/>
              <a:t>TaiKhoan: Lưu thông tin tài khoản người dùng và quản trị viên</a:t>
            </a:r>
          </a:p>
          <a:p>
            <a:pPr>
              <a:buFont typeface="Wingdings" panose="05000000000000000000" pitchFamily="2" charset="2"/>
              <a:buChar char="ü"/>
            </a:pPr>
            <a:r>
              <a:rPr lang="vi-VN" sz="1500"/>
              <a:t>DeThi: Lưu thông tin đề thi</a:t>
            </a:r>
          </a:p>
          <a:p>
            <a:pPr>
              <a:buFont typeface="Wingdings" panose="05000000000000000000" pitchFamily="2" charset="2"/>
              <a:buChar char="ü"/>
            </a:pPr>
            <a:r>
              <a:rPr lang="vi-VN" sz="1500"/>
              <a:t>CauHoi: Lưu danh sách các câu hỏi thuộc từng đề thi</a:t>
            </a:r>
          </a:p>
          <a:p>
            <a:pPr>
              <a:buFont typeface="Wingdings" panose="05000000000000000000" pitchFamily="2" charset="2"/>
              <a:buChar char="ü"/>
            </a:pPr>
            <a:r>
              <a:rPr lang="vi-VN" sz="1500"/>
              <a:t>BaiThi: Lưu thông tin các lần làm bài</a:t>
            </a:r>
          </a:p>
          <a:p>
            <a:pPr>
              <a:buFont typeface="Wingdings" panose="05000000000000000000" pitchFamily="2" charset="2"/>
              <a:buChar char="ü"/>
            </a:pPr>
            <a:r>
              <a:rPr lang="vi-VN" sz="1500"/>
              <a:t>ChiTietBaiThi: Lưu đáp án người dùng đã chọn</a:t>
            </a:r>
          </a:p>
          <a:p>
            <a:pPr>
              <a:buFont typeface="Wingdings" panose="05000000000000000000" pitchFamily="2" charset="2"/>
              <a:buChar char="ü"/>
            </a:pPr>
            <a:r>
              <a:rPr lang="vi-VN" sz="1500"/>
              <a:t>KetQua: Lưu kết quả và điểm số bài thi</a:t>
            </a:r>
          </a:p>
          <a:p>
            <a:pPr marL="0" indent="0">
              <a:buNone/>
            </a:pPr>
            <a:r>
              <a:rPr lang="vi-VN" sz="1500">
                <a:sym typeface="Wingdings" panose="05000000000000000000" pitchFamily="2" charset="2"/>
              </a:rPr>
              <a:t> </a:t>
            </a:r>
            <a:r>
              <a:rPr lang="en-US" sz="1600"/>
              <a:t>Các bảng được liên kết thông qua khóa chính và khóa ngoại nhằm đảm bảo tính toàn vẹn dữ liệu.</a:t>
            </a:r>
            <a:endParaRPr lang="en-US" sz="1500"/>
          </a:p>
        </p:txBody>
      </p:sp>
      <p:sp>
        <p:nvSpPr>
          <p:cNvPr id="5" name="Content Placeholder 2">
            <a:extLst>
              <a:ext uri="{FF2B5EF4-FFF2-40B4-BE49-F238E27FC236}">
                <a16:creationId xmlns:a16="http://schemas.microsoft.com/office/drawing/2014/main" id="{A3478A4F-DFD4-888B-5B10-302E2B0520F6}"/>
              </a:ext>
            </a:extLst>
          </p:cNvPr>
          <p:cNvSpPr txBox="1">
            <a:spLocks/>
          </p:cNvSpPr>
          <p:nvPr/>
        </p:nvSpPr>
        <p:spPr>
          <a:xfrm>
            <a:off x="6559062" y="1295910"/>
            <a:ext cx="5106950" cy="498810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t>Công nghệ sử dụng</a:t>
            </a:r>
          </a:p>
          <a:p>
            <a:pPr>
              <a:buFont typeface="Wingdings" panose="05000000000000000000" pitchFamily="2" charset="2"/>
              <a:buChar char="ü"/>
            </a:pPr>
            <a:r>
              <a:rPr lang="en-US" sz="1400"/>
              <a:t>Java </a:t>
            </a:r>
          </a:p>
          <a:p>
            <a:pPr>
              <a:buFont typeface="Wingdings" panose="05000000000000000000" pitchFamily="2" charset="2"/>
              <a:buChar char="ü"/>
            </a:pPr>
            <a:r>
              <a:rPr lang="en-US" sz="1400"/>
              <a:t>Android Studio </a:t>
            </a:r>
          </a:p>
          <a:p>
            <a:pPr>
              <a:buFont typeface="Wingdings" panose="05000000000000000000" pitchFamily="2" charset="2"/>
              <a:buChar char="ü"/>
            </a:pPr>
            <a:r>
              <a:rPr lang="en-US" sz="1400"/>
              <a:t>SQLite </a:t>
            </a:r>
          </a:p>
          <a:p>
            <a:pPr>
              <a:buFont typeface="Wingdings" panose="05000000000000000000" pitchFamily="2" charset="2"/>
              <a:buChar char="ü"/>
            </a:pPr>
            <a:r>
              <a:rPr lang="en-US" sz="1400"/>
              <a:t>Material Design</a:t>
            </a:r>
            <a:endParaRPr lang="vi-VN" sz="1400"/>
          </a:p>
          <a:p>
            <a:pPr marL="0" indent="0">
              <a:buFont typeface="Arial" panose="020B0604020202020204" pitchFamily="34" charset="0"/>
              <a:buNone/>
            </a:pPr>
            <a:r>
              <a:rPr lang="vi-VN" sz="1400" b="1"/>
              <a:t>Kiến trúc</a:t>
            </a:r>
            <a:endParaRPr lang="en-US" sz="1400" b="1"/>
          </a:p>
          <a:p>
            <a:pPr marL="0" indent="0">
              <a:buFont typeface="Arial" panose="020B0604020202020204" pitchFamily="34" charset="0"/>
              <a:buNone/>
            </a:pPr>
            <a:r>
              <a:rPr lang="en-US" sz="1400"/>
              <a:t>Activity</a:t>
            </a:r>
          </a:p>
          <a:p>
            <a:pPr marL="0" indent="0">
              <a:buFont typeface="Arial" panose="020B0604020202020204" pitchFamily="34" charset="0"/>
              <a:buNone/>
            </a:pPr>
            <a:r>
              <a:rPr lang="en-US" sz="1400"/>
              <a:t>↓</a:t>
            </a:r>
          </a:p>
          <a:p>
            <a:pPr marL="0" indent="0">
              <a:buFont typeface="Arial" panose="020B0604020202020204" pitchFamily="34" charset="0"/>
              <a:buNone/>
            </a:pPr>
            <a:r>
              <a:rPr lang="en-US" sz="1400"/>
              <a:t>DAO</a:t>
            </a:r>
          </a:p>
          <a:p>
            <a:pPr marL="0" indent="0">
              <a:buFont typeface="Arial" panose="020B0604020202020204" pitchFamily="34" charset="0"/>
              <a:buNone/>
            </a:pPr>
            <a:r>
              <a:rPr lang="en-US" sz="1400"/>
              <a:t>↓</a:t>
            </a:r>
          </a:p>
          <a:p>
            <a:pPr marL="0" indent="0">
              <a:buFont typeface="Arial" panose="020B0604020202020204" pitchFamily="34" charset="0"/>
              <a:buNone/>
            </a:pPr>
            <a:r>
              <a:rPr lang="en-US" sz="1400"/>
              <a:t>SQLite</a:t>
            </a:r>
            <a:endParaRPr lang="vi-VN" sz="1400"/>
          </a:p>
          <a:p>
            <a:pPr marL="0" indent="0">
              <a:buNone/>
            </a:pPr>
            <a:r>
              <a:rPr lang="vi-VN" sz="1400">
                <a:sym typeface="Wingdings" panose="05000000000000000000" pitchFamily="2" charset="2"/>
              </a:rPr>
              <a:t> </a:t>
            </a:r>
            <a:r>
              <a:rPr lang="en-US" sz="1400"/>
              <a:t>Khi người dùng thực hiện một chức năng, dữ liệu sẽ được gửi từ Activity xuống DAO. DAO sẽ làm việc với SQLite để lấy hoặc cập nhật dữ liệu, sau đó trả kết quả ngược lại cho Activity để hiển thị cho người dùng.</a:t>
            </a:r>
          </a:p>
        </p:txBody>
      </p:sp>
    </p:spTree>
    <p:extLst>
      <p:ext uri="{BB962C8B-B14F-4D97-AF65-F5344CB8AC3E}">
        <p14:creationId xmlns:p14="http://schemas.microsoft.com/office/powerpoint/2010/main" val="2813408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E5A74-00A5-F02C-B28A-A866D64F3715}"/>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Biểu đồ tuần tự - Làm bài thi</a:t>
            </a:r>
          </a:p>
        </p:txBody>
      </p:sp>
      <p:pic>
        <p:nvPicPr>
          <p:cNvPr id="4" name="Content Placeholder 3">
            <a:extLst>
              <a:ext uri="{FF2B5EF4-FFF2-40B4-BE49-F238E27FC236}">
                <a16:creationId xmlns:a16="http://schemas.microsoft.com/office/drawing/2014/main" id="{FF99E690-5518-C429-1DD6-6D645DCAD7AC}"/>
              </a:ext>
            </a:extLst>
          </p:cNvPr>
          <p:cNvPicPr>
            <a:picLocks noGrp="1" noChangeAspect="1"/>
          </p:cNvPicPr>
          <p:nvPr>
            <p:ph idx="1"/>
          </p:nvPr>
        </p:nvPicPr>
        <p:blipFill>
          <a:blip r:embed="rId2"/>
          <a:stretch>
            <a:fillRect/>
          </a:stretch>
        </p:blipFill>
        <p:spPr>
          <a:xfrm>
            <a:off x="4344099" y="700110"/>
            <a:ext cx="7390808" cy="5450721"/>
          </a:xfrm>
          <a:prstGeom prst="rect">
            <a:avLst/>
          </a:prstGeom>
        </p:spPr>
      </p:pic>
    </p:spTree>
    <p:extLst>
      <p:ext uri="{BB962C8B-B14F-4D97-AF65-F5344CB8AC3E}">
        <p14:creationId xmlns:p14="http://schemas.microsoft.com/office/powerpoint/2010/main" val="4183126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5DD5-801F-C875-F8FD-761F6727A88B}"/>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Biểu đồ tuần tự - Quản lý đề thi</a:t>
            </a:r>
          </a:p>
        </p:txBody>
      </p:sp>
      <p:pic>
        <p:nvPicPr>
          <p:cNvPr id="4" name="Content Placeholder 3">
            <a:extLst>
              <a:ext uri="{FF2B5EF4-FFF2-40B4-BE49-F238E27FC236}">
                <a16:creationId xmlns:a16="http://schemas.microsoft.com/office/drawing/2014/main" id="{AEBF2145-CAB9-FCE3-BEC3-3D8D87CEB678}"/>
              </a:ext>
            </a:extLst>
          </p:cNvPr>
          <p:cNvPicPr>
            <a:picLocks noGrp="1" noChangeAspect="1"/>
          </p:cNvPicPr>
          <p:nvPr>
            <p:ph idx="1"/>
          </p:nvPr>
        </p:nvPicPr>
        <p:blipFill>
          <a:blip r:embed="rId2"/>
          <a:stretch>
            <a:fillRect/>
          </a:stretch>
        </p:blipFill>
        <p:spPr>
          <a:xfrm>
            <a:off x="5197971" y="394504"/>
            <a:ext cx="5683064" cy="6061934"/>
          </a:xfrm>
          <a:prstGeom prst="rect">
            <a:avLst/>
          </a:prstGeom>
        </p:spPr>
      </p:pic>
    </p:spTree>
    <p:extLst>
      <p:ext uri="{BB962C8B-B14F-4D97-AF65-F5344CB8AC3E}">
        <p14:creationId xmlns:p14="http://schemas.microsoft.com/office/powerpoint/2010/main" val="2867492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622B-137D-3BF7-08FF-9371DA7CB08D}"/>
              </a:ext>
            </a:extLst>
          </p:cNvPr>
          <p:cNvSpPr>
            <a:spLocks noGrp="1"/>
          </p:cNvSpPr>
          <p:nvPr>
            <p:ph type="title"/>
          </p:nvPr>
        </p:nvSpPr>
        <p:spPr/>
        <p:txBody>
          <a:bodyPr/>
          <a:lstStyle/>
          <a:p>
            <a:r>
              <a:rPr lang="vi-VN"/>
              <a:t>Giao diện Đăng nhập – Đăng ký</a:t>
            </a:r>
            <a:endParaRPr lang="en-US"/>
          </a:p>
        </p:txBody>
      </p:sp>
      <p:pic>
        <p:nvPicPr>
          <p:cNvPr id="4" name="Content Placeholder 3">
            <a:extLst>
              <a:ext uri="{FF2B5EF4-FFF2-40B4-BE49-F238E27FC236}">
                <a16:creationId xmlns:a16="http://schemas.microsoft.com/office/drawing/2014/main" id="{15F86984-F3D3-0EF7-E252-4AE7D99A9E73}"/>
              </a:ext>
            </a:extLst>
          </p:cNvPr>
          <p:cNvPicPr>
            <a:picLocks noGrp="1" noChangeAspect="1"/>
          </p:cNvPicPr>
          <p:nvPr>
            <p:ph idx="1"/>
          </p:nvPr>
        </p:nvPicPr>
        <p:blipFill>
          <a:blip r:embed="rId2"/>
          <a:stretch>
            <a:fillRect/>
          </a:stretch>
        </p:blipFill>
        <p:spPr>
          <a:xfrm>
            <a:off x="481621" y="1499957"/>
            <a:ext cx="5296617" cy="4592637"/>
          </a:xfrm>
          <a:prstGeom prst="rect">
            <a:avLst/>
          </a:prstGeom>
        </p:spPr>
      </p:pic>
      <p:pic>
        <p:nvPicPr>
          <p:cNvPr id="5" name="Picture 4">
            <a:extLst>
              <a:ext uri="{FF2B5EF4-FFF2-40B4-BE49-F238E27FC236}">
                <a16:creationId xmlns:a16="http://schemas.microsoft.com/office/drawing/2014/main" id="{632A81F4-F46E-D2D4-3642-BD5D9F18580D}"/>
              </a:ext>
            </a:extLst>
          </p:cNvPr>
          <p:cNvPicPr>
            <a:picLocks noChangeAspect="1"/>
          </p:cNvPicPr>
          <p:nvPr/>
        </p:nvPicPr>
        <p:blipFill>
          <a:blip r:embed="rId3"/>
          <a:stretch>
            <a:fillRect/>
          </a:stretch>
        </p:blipFill>
        <p:spPr>
          <a:xfrm>
            <a:off x="6096000" y="1263419"/>
            <a:ext cx="5797550" cy="4829175"/>
          </a:xfrm>
          <a:prstGeom prst="rect">
            <a:avLst/>
          </a:prstGeom>
        </p:spPr>
      </p:pic>
    </p:spTree>
    <p:extLst>
      <p:ext uri="{BB962C8B-B14F-4D97-AF65-F5344CB8AC3E}">
        <p14:creationId xmlns:p14="http://schemas.microsoft.com/office/powerpoint/2010/main" val="91700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22998-FB9B-FDAA-F8EA-606ADBACCC47}"/>
              </a:ext>
            </a:extLst>
          </p:cNvPr>
          <p:cNvSpPr>
            <a:spLocks noGrp="1"/>
          </p:cNvSpPr>
          <p:nvPr>
            <p:ph type="title"/>
          </p:nvPr>
        </p:nvSpPr>
        <p:spPr/>
        <p:txBody>
          <a:bodyPr/>
          <a:lstStyle/>
          <a:p>
            <a:r>
              <a:rPr lang="vi-VN"/>
              <a:t>Phân hệ quản trị viên</a:t>
            </a:r>
            <a:endParaRPr lang="en-US"/>
          </a:p>
        </p:txBody>
      </p:sp>
      <p:pic>
        <p:nvPicPr>
          <p:cNvPr id="4" name="Content Placeholder 3">
            <a:extLst>
              <a:ext uri="{FF2B5EF4-FFF2-40B4-BE49-F238E27FC236}">
                <a16:creationId xmlns:a16="http://schemas.microsoft.com/office/drawing/2014/main" id="{044034E0-499F-23D7-BEAC-65C46A6E7904}"/>
              </a:ext>
            </a:extLst>
          </p:cNvPr>
          <p:cNvPicPr>
            <a:picLocks noGrp="1" noChangeAspect="1"/>
          </p:cNvPicPr>
          <p:nvPr>
            <p:ph idx="1"/>
          </p:nvPr>
        </p:nvPicPr>
        <p:blipFill>
          <a:blip r:embed="rId2"/>
          <a:stretch>
            <a:fillRect/>
          </a:stretch>
        </p:blipFill>
        <p:spPr>
          <a:xfrm>
            <a:off x="612648" y="1716723"/>
            <a:ext cx="5315675" cy="4592637"/>
          </a:xfrm>
          <a:prstGeom prst="rect">
            <a:avLst/>
          </a:prstGeom>
        </p:spPr>
      </p:pic>
      <p:pic>
        <p:nvPicPr>
          <p:cNvPr id="5" name="Picture 4">
            <a:extLst>
              <a:ext uri="{FF2B5EF4-FFF2-40B4-BE49-F238E27FC236}">
                <a16:creationId xmlns:a16="http://schemas.microsoft.com/office/drawing/2014/main" id="{3556A80C-BE87-78CF-2D50-5DE18A8A3468}"/>
              </a:ext>
            </a:extLst>
          </p:cNvPr>
          <p:cNvPicPr>
            <a:picLocks noChangeAspect="1"/>
          </p:cNvPicPr>
          <p:nvPr/>
        </p:nvPicPr>
        <p:blipFill>
          <a:blip r:embed="rId3"/>
          <a:stretch>
            <a:fillRect/>
          </a:stretch>
        </p:blipFill>
        <p:spPr>
          <a:xfrm>
            <a:off x="5939437" y="1568676"/>
            <a:ext cx="5797550" cy="4855845"/>
          </a:xfrm>
          <a:prstGeom prst="rect">
            <a:avLst/>
          </a:prstGeom>
        </p:spPr>
      </p:pic>
    </p:spTree>
    <p:extLst>
      <p:ext uri="{BB962C8B-B14F-4D97-AF65-F5344CB8AC3E}">
        <p14:creationId xmlns:p14="http://schemas.microsoft.com/office/powerpoint/2010/main" val="2121700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069D2-42A1-9B99-FCAD-707E29F36FB3}"/>
              </a:ext>
            </a:extLst>
          </p:cNvPr>
          <p:cNvSpPr>
            <a:spLocks noGrp="1"/>
          </p:cNvSpPr>
          <p:nvPr>
            <p:ph type="title"/>
          </p:nvPr>
        </p:nvSpPr>
        <p:spPr/>
        <p:txBody>
          <a:bodyPr/>
          <a:lstStyle/>
          <a:p>
            <a:r>
              <a:rPr lang="vi-VN"/>
              <a:t>Phân hệ quản trị viên</a:t>
            </a:r>
            <a:endParaRPr lang="en-US"/>
          </a:p>
        </p:txBody>
      </p:sp>
      <p:pic>
        <p:nvPicPr>
          <p:cNvPr id="4" name="Content Placeholder 3">
            <a:extLst>
              <a:ext uri="{FF2B5EF4-FFF2-40B4-BE49-F238E27FC236}">
                <a16:creationId xmlns:a16="http://schemas.microsoft.com/office/drawing/2014/main" id="{87EE50E9-EFCA-4C23-050A-EA55F9394F7E}"/>
              </a:ext>
            </a:extLst>
          </p:cNvPr>
          <p:cNvPicPr>
            <a:picLocks noGrp="1" noChangeAspect="1"/>
          </p:cNvPicPr>
          <p:nvPr>
            <p:ph idx="1"/>
          </p:nvPr>
        </p:nvPicPr>
        <p:blipFill>
          <a:blip r:embed="rId2"/>
          <a:stretch>
            <a:fillRect/>
          </a:stretch>
        </p:blipFill>
        <p:spPr>
          <a:xfrm>
            <a:off x="612648" y="1680898"/>
            <a:ext cx="5522434" cy="4592637"/>
          </a:xfrm>
          <a:prstGeom prst="rect">
            <a:avLst/>
          </a:prstGeom>
        </p:spPr>
      </p:pic>
      <p:pic>
        <p:nvPicPr>
          <p:cNvPr id="5" name="Picture 4">
            <a:extLst>
              <a:ext uri="{FF2B5EF4-FFF2-40B4-BE49-F238E27FC236}">
                <a16:creationId xmlns:a16="http://schemas.microsoft.com/office/drawing/2014/main" id="{F4D2063E-8067-8145-3420-F7DEA46C00ED}"/>
              </a:ext>
            </a:extLst>
          </p:cNvPr>
          <p:cNvPicPr>
            <a:picLocks noChangeAspect="1"/>
          </p:cNvPicPr>
          <p:nvPr/>
        </p:nvPicPr>
        <p:blipFill>
          <a:blip r:embed="rId3"/>
          <a:stretch>
            <a:fillRect/>
          </a:stretch>
        </p:blipFill>
        <p:spPr>
          <a:xfrm>
            <a:off x="6303804" y="1516140"/>
            <a:ext cx="5522435" cy="4675016"/>
          </a:xfrm>
          <a:prstGeom prst="rect">
            <a:avLst/>
          </a:prstGeom>
        </p:spPr>
      </p:pic>
    </p:spTree>
    <p:extLst>
      <p:ext uri="{BB962C8B-B14F-4D97-AF65-F5344CB8AC3E}">
        <p14:creationId xmlns:p14="http://schemas.microsoft.com/office/powerpoint/2010/main" val="436247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C872-C6A6-BC06-39A3-61E27BCA9980}"/>
              </a:ext>
            </a:extLst>
          </p:cNvPr>
          <p:cNvSpPr>
            <a:spLocks noGrp="1"/>
          </p:cNvSpPr>
          <p:nvPr>
            <p:ph type="title"/>
          </p:nvPr>
        </p:nvSpPr>
        <p:spPr/>
        <p:txBody>
          <a:bodyPr/>
          <a:lstStyle/>
          <a:p>
            <a:r>
              <a:rPr lang="vi-VN"/>
              <a:t>Phân hệ người dùng</a:t>
            </a:r>
            <a:endParaRPr lang="en-US"/>
          </a:p>
        </p:txBody>
      </p:sp>
      <p:pic>
        <p:nvPicPr>
          <p:cNvPr id="4" name="Content Placeholder 3">
            <a:extLst>
              <a:ext uri="{FF2B5EF4-FFF2-40B4-BE49-F238E27FC236}">
                <a16:creationId xmlns:a16="http://schemas.microsoft.com/office/drawing/2014/main" id="{52E5ACA5-5995-824B-2165-B0D5A771BB7B}"/>
              </a:ext>
            </a:extLst>
          </p:cNvPr>
          <p:cNvPicPr>
            <a:picLocks noGrp="1" noChangeAspect="1"/>
          </p:cNvPicPr>
          <p:nvPr>
            <p:ph idx="1"/>
          </p:nvPr>
        </p:nvPicPr>
        <p:blipFill>
          <a:blip r:embed="rId2"/>
          <a:stretch>
            <a:fillRect/>
          </a:stretch>
        </p:blipFill>
        <p:spPr>
          <a:xfrm>
            <a:off x="678736" y="1533208"/>
            <a:ext cx="5417264" cy="4592637"/>
          </a:xfrm>
          <a:prstGeom prst="rect">
            <a:avLst/>
          </a:prstGeom>
        </p:spPr>
      </p:pic>
      <p:pic>
        <p:nvPicPr>
          <p:cNvPr id="5" name="Picture 4">
            <a:extLst>
              <a:ext uri="{FF2B5EF4-FFF2-40B4-BE49-F238E27FC236}">
                <a16:creationId xmlns:a16="http://schemas.microsoft.com/office/drawing/2014/main" id="{DD7C95F8-1199-70BE-A3E1-FD2C92773484}"/>
              </a:ext>
            </a:extLst>
          </p:cNvPr>
          <p:cNvPicPr>
            <a:picLocks noChangeAspect="1"/>
          </p:cNvPicPr>
          <p:nvPr/>
        </p:nvPicPr>
        <p:blipFill>
          <a:blip r:embed="rId3"/>
          <a:stretch>
            <a:fillRect/>
          </a:stretch>
        </p:blipFill>
        <p:spPr>
          <a:xfrm>
            <a:off x="6162088" y="1296555"/>
            <a:ext cx="5797550" cy="4950460"/>
          </a:xfrm>
          <a:prstGeom prst="rect">
            <a:avLst/>
          </a:prstGeom>
        </p:spPr>
      </p:pic>
    </p:spTree>
    <p:extLst>
      <p:ext uri="{BB962C8B-B14F-4D97-AF65-F5344CB8AC3E}">
        <p14:creationId xmlns:p14="http://schemas.microsoft.com/office/powerpoint/2010/main" val="2862298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AFB5-A037-C5A0-A6AD-4D7DDD2327A8}"/>
              </a:ext>
            </a:extLst>
          </p:cNvPr>
          <p:cNvSpPr>
            <a:spLocks noGrp="1"/>
          </p:cNvSpPr>
          <p:nvPr>
            <p:ph type="title"/>
          </p:nvPr>
        </p:nvSpPr>
        <p:spPr/>
        <p:txBody>
          <a:bodyPr/>
          <a:lstStyle/>
          <a:p>
            <a:r>
              <a:rPr lang="vi-VN"/>
              <a:t>Phân hệ người dùng</a:t>
            </a:r>
            <a:endParaRPr lang="en-US"/>
          </a:p>
        </p:txBody>
      </p:sp>
      <p:pic>
        <p:nvPicPr>
          <p:cNvPr id="4" name="Content Placeholder 3">
            <a:extLst>
              <a:ext uri="{FF2B5EF4-FFF2-40B4-BE49-F238E27FC236}">
                <a16:creationId xmlns:a16="http://schemas.microsoft.com/office/drawing/2014/main" id="{F967BC39-0970-7999-1AB3-02538A80B962}"/>
              </a:ext>
            </a:extLst>
          </p:cNvPr>
          <p:cNvPicPr>
            <a:picLocks noGrp="1" noChangeAspect="1"/>
          </p:cNvPicPr>
          <p:nvPr>
            <p:ph idx="1"/>
          </p:nvPr>
        </p:nvPicPr>
        <p:blipFill>
          <a:blip r:embed="rId2"/>
          <a:stretch>
            <a:fillRect/>
          </a:stretch>
        </p:blipFill>
        <p:spPr>
          <a:xfrm>
            <a:off x="612648" y="1680898"/>
            <a:ext cx="5377971" cy="4592637"/>
          </a:xfrm>
          <a:prstGeom prst="rect">
            <a:avLst/>
          </a:prstGeom>
        </p:spPr>
      </p:pic>
      <p:pic>
        <p:nvPicPr>
          <p:cNvPr id="5" name="Picture 4">
            <a:extLst>
              <a:ext uri="{FF2B5EF4-FFF2-40B4-BE49-F238E27FC236}">
                <a16:creationId xmlns:a16="http://schemas.microsoft.com/office/drawing/2014/main" id="{B560313B-BF66-5E79-FAE6-8C30430C0B57}"/>
              </a:ext>
            </a:extLst>
          </p:cNvPr>
          <p:cNvPicPr>
            <a:picLocks noChangeAspect="1"/>
          </p:cNvPicPr>
          <p:nvPr/>
        </p:nvPicPr>
        <p:blipFill>
          <a:blip r:embed="rId3"/>
          <a:stretch>
            <a:fillRect/>
          </a:stretch>
        </p:blipFill>
        <p:spPr>
          <a:xfrm>
            <a:off x="6201383" y="1547071"/>
            <a:ext cx="5797550" cy="4860290"/>
          </a:xfrm>
          <a:prstGeom prst="rect">
            <a:avLst/>
          </a:prstGeom>
        </p:spPr>
      </p:pic>
    </p:spTree>
    <p:extLst>
      <p:ext uri="{BB962C8B-B14F-4D97-AF65-F5344CB8AC3E}">
        <p14:creationId xmlns:p14="http://schemas.microsoft.com/office/powerpoint/2010/main" val="1331740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EDF2A-C9DE-28BC-30A1-6A8CA8DCBC83}"/>
              </a:ext>
            </a:extLst>
          </p:cNvPr>
          <p:cNvSpPr>
            <a:spLocks noGrp="1"/>
          </p:cNvSpPr>
          <p:nvPr>
            <p:ph type="title"/>
          </p:nvPr>
        </p:nvSpPr>
        <p:spPr/>
        <p:txBody>
          <a:bodyPr/>
          <a:lstStyle/>
          <a:p>
            <a:r>
              <a:rPr lang="vi-VN"/>
              <a:t>Phân hệ người dùng</a:t>
            </a:r>
            <a:endParaRPr lang="en-US"/>
          </a:p>
        </p:txBody>
      </p:sp>
      <p:pic>
        <p:nvPicPr>
          <p:cNvPr id="4" name="Content Placeholder 3">
            <a:extLst>
              <a:ext uri="{FF2B5EF4-FFF2-40B4-BE49-F238E27FC236}">
                <a16:creationId xmlns:a16="http://schemas.microsoft.com/office/drawing/2014/main" id="{6CEFA568-5D5E-043F-C16A-5A02DDBAF29D}"/>
              </a:ext>
            </a:extLst>
          </p:cNvPr>
          <p:cNvPicPr>
            <a:picLocks noGrp="1" noChangeAspect="1"/>
          </p:cNvPicPr>
          <p:nvPr>
            <p:ph idx="1"/>
          </p:nvPr>
        </p:nvPicPr>
        <p:blipFill>
          <a:blip r:embed="rId2"/>
          <a:stretch>
            <a:fillRect/>
          </a:stretch>
        </p:blipFill>
        <p:spPr>
          <a:xfrm>
            <a:off x="708619" y="1680898"/>
            <a:ext cx="5387381" cy="4592637"/>
          </a:xfrm>
          <a:prstGeom prst="rect">
            <a:avLst/>
          </a:prstGeom>
        </p:spPr>
      </p:pic>
      <p:pic>
        <p:nvPicPr>
          <p:cNvPr id="5" name="Picture 4">
            <a:extLst>
              <a:ext uri="{FF2B5EF4-FFF2-40B4-BE49-F238E27FC236}">
                <a16:creationId xmlns:a16="http://schemas.microsoft.com/office/drawing/2014/main" id="{ADE36D86-1536-A8B8-11CD-228E466A40AC}"/>
              </a:ext>
            </a:extLst>
          </p:cNvPr>
          <p:cNvPicPr>
            <a:picLocks noChangeAspect="1"/>
          </p:cNvPicPr>
          <p:nvPr/>
        </p:nvPicPr>
        <p:blipFill>
          <a:blip r:embed="rId3"/>
          <a:stretch>
            <a:fillRect/>
          </a:stretch>
        </p:blipFill>
        <p:spPr>
          <a:xfrm>
            <a:off x="6245997" y="1455155"/>
            <a:ext cx="5797550" cy="4818380"/>
          </a:xfrm>
          <a:prstGeom prst="rect">
            <a:avLst/>
          </a:prstGeom>
        </p:spPr>
      </p:pic>
    </p:spTree>
    <p:extLst>
      <p:ext uri="{BB962C8B-B14F-4D97-AF65-F5344CB8AC3E}">
        <p14:creationId xmlns:p14="http://schemas.microsoft.com/office/powerpoint/2010/main" val="278141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8B2F-0D8E-C0A3-156F-226336DEE769}"/>
              </a:ext>
            </a:extLst>
          </p:cNvPr>
          <p:cNvSpPr>
            <a:spLocks noGrp="1"/>
          </p:cNvSpPr>
          <p:nvPr>
            <p:ph type="title"/>
          </p:nvPr>
        </p:nvSpPr>
        <p:spPr/>
        <p:txBody>
          <a:bodyPr/>
          <a:lstStyle/>
          <a:p>
            <a:r>
              <a:rPr lang="vi-VN"/>
              <a:t>Kết quả đạt được</a:t>
            </a:r>
            <a:endParaRPr lang="en-US"/>
          </a:p>
        </p:txBody>
      </p:sp>
      <p:sp>
        <p:nvSpPr>
          <p:cNvPr id="3" name="Content Placeholder 2">
            <a:extLst>
              <a:ext uri="{FF2B5EF4-FFF2-40B4-BE49-F238E27FC236}">
                <a16:creationId xmlns:a16="http://schemas.microsoft.com/office/drawing/2014/main" id="{B7BA3480-C423-634D-4302-32553B9D6CBA}"/>
              </a:ext>
            </a:extLst>
          </p:cNvPr>
          <p:cNvSpPr>
            <a:spLocks noGrp="1"/>
          </p:cNvSpPr>
          <p:nvPr>
            <p:ph idx="1"/>
          </p:nvPr>
        </p:nvSpPr>
        <p:spPr>
          <a:xfrm>
            <a:off x="612647" y="1715532"/>
            <a:ext cx="5738277" cy="4593828"/>
          </a:xfrm>
        </p:spPr>
        <p:txBody>
          <a:bodyPr>
            <a:normAutofit fontScale="62500" lnSpcReduction="20000"/>
          </a:bodyPr>
          <a:lstStyle/>
          <a:p>
            <a:pPr marL="0" indent="0">
              <a:buNone/>
            </a:pPr>
            <a:r>
              <a:rPr lang="en-US" b="1"/>
              <a:t>Về chức năng hệ thống</a:t>
            </a:r>
          </a:p>
          <a:p>
            <a:pPr>
              <a:buFont typeface="Wingdings" panose="05000000000000000000" pitchFamily="2" charset="2"/>
              <a:buChar char="ü"/>
            </a:pPr>
            <a:r>
              <a:rPr lang="en-US"/>
              <a:t>Xây dựng thành công ứng dụng thi trắc nghiệm trên nền tảng Android.</a:t>
            </a:r>
          </a:p>
          <a:p>
            <a:pPr>
              <a:buFont typeface="Wingdings" panose="05000000000000000000" pitchFamily="2" charset="2"/>
              <a:buChar char="ü"/>
            </a:pPr>
            <a:r>
              <a:rPr lang="en-US"/>
              <a:t>Hoàn thiện phân hệ người dùng:</a:t>
            </a:r>
          </a:p>
          <a:p>
            <a:pPr marL="398463">
              <a:buFont typeface="Wingdings" panose="05000000000000000000" pitchFamily="2" charset="2"/>
              <a:buChar char="q"/>
            </a:pPr>
            <a:r>
              <a:rPr lang="en-US"/>
              <a:t>Đăng ký tài khoản. </a:t>
            </a:r>
          </a:p>
          <a:p>
            <a:pPr marL="398463">
              <a:buFont typeface="Wingdings" panose="05000000000000000000" pitchFamily="2" charset="2"/>
              <a:buChar char="q"/>
            </a:pPr>
            <a:r>
              <a:rPr lang="en-US"/>
              <a:t>Đăng nhập hệ thống. </a:t>
            </a:r>
          </a:p>
          <a:p>
            <a:pPr marL="398463">
              <a:buFont typeface="Wingdings" panose="05000000000000000000" pitchFamily="2" charset="2"/>
              <a:buChar char="q"/>
            </a:pPr>
            <a:r>
              <a:rPr lang="en-US"/>
              <a:t>Xem danh sách đề thi. </a:t>
            </a:r>
          </a:p>
          <a:p>
            <a:pPr marL="398463">
              <a:buFont typeface="Wingdings" panose="05000000000000000000" pitchFamily="2" charset="2"/>
              <a:buChar char="q"/>
            </a:pPr>
            <a:r>
              <a:rPr lang="en-US"/>
              <a:t>Thực hiện bài thi trắc nghiệm. </a:t>
            </a:r>
          </a:p>
          <a:p>
            <a:pPr marL="398463">
              <a:buFont typeface="Wingdings" panose="05000000000000000000" pitchFamily="2" charset="2"/>
              <a:buChar char="q"/>
            </a:pPr>
            <a:r>
              <a:rPr lang="en-US"/>
              <a:t>Chấm điểm tự động. </a:t>
            </a:r>
          </a:p>
          <a:p>
            <a:pPr marL="398463">
              <a:buFont typeface="Wingdings" panose="05000000000000000000" pitchFamily="2" charset="2"/>
              <a:buChar char="q"/>
            </a:pPr>
            <a:r>
              <a:rPr lang="en-US"/>
              <a:t>Xem kết quả và chi tiết bài làm. </a:t>
            </a:r>
          </a:p>
          <a:p>
            <a:pPr marL="398463">
              <a:buFont typeface="Wingdings" panose="05000000000000000000" pitchFamily="2" charset="2"/>
              <a:buChar char="q"/>
            </a:pPr>
            <a:r>
              <a:rPr lang="en-US"/>
              <a:t>Xem lịch sử thi. </a:t>
            </a:r>
          </a:p>
          <a:p>
            <a:pPr>
              <a:buFont typeface="Wingdings" panose="05000000000000000000" pitchFamily="2" charset="2"/>
              <a:buChar char="ü"/>
            </a:pPr>
            <a:r>
              <a:rPr lang="en-US"/>
              <a:t>Hoàn thiện phân hệ quản trị:</a:t>
            </a:r>
          </a:p>
          <a:p>
            <a:pPr marL="398463">
              <a:buFont typeface="Wingdings" panose="05000000000000000000" pitchFamily="2" charset="2"/>
              <a:buChar char="q"/>
            </a:pPr>
            <a:r>
              <a:rPr lang="en-US"/>
              <a:t>Quản lý đề thi. </a:t>
            </a:r>
          </a:p>
          <a:p>
            <a:pPr marL="398463">
              <a:buFont typeface="Wingdings" panose="05000000000000000000" pitchFamily="2" charset="2"/>
              <a:buChar char="q"/>
            </a:pPr>
            <a:r>
              <a:rPr lang="en-US"/>
              <a:t>Quản lý câu hỏi. </a:t>
            </a:r>
          </a:p>
          <a:p>
            <a:pPr marL="398463">
              <a:buFont typeface="Wingdings" panose="05000000000000000000" pitchFamily="2" charset="2"/>
              <a:buChar char="q"/>
            </a:pPr>
            <a:r>
              <a:rPr lang="en-US"/>
              <a:t>Thống kê dữ liệu hệ thống. </a:t>
            </a:r>
          </a:p>
          <a:p>
            <a:endParaRPr lang="en-US"/>
          </a:p>
        </p:txBody>
      </p:sp>
      <p:sp>
        <p:nvSpPr>
          <p:cNvPr id="4" name="Content Placeholder 2">
            <a:extLst>
              <a:ext uri="{FF2B5EF4-FFF2-40B4-BE49-F238E27FC236}">
                <a16:creationId xmlns:a16="http://schemas.microsoft.com/office/drawing/2014/main" id="{E91D63F1-D84A-BCE4-DBF4-596F368E93C1}"/>
              </a:ext>
            </a:extLst>
          </p:cNvPr>
          <p:cNvSpPr txBox="1">
            <a:spLocks/>
          </p:cNvSpPr>
          <p:nvPr/>
        </p:nvSpPr>
        <p:spPr>
          <a:xfrm>
            <a:off x="6350924" y="1715532"/>
            <a:ext cx="5738277" cy="207507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Về kỹ thuật</a:t>
            </a:r>
          </a:p>
          <a:p>
            <a:pPr>
              <a:buFont typeface="Wingdings" panose="05000000000000000000" pitchFamily="2" charset="2"/>
              <a:buChar char="ü"/>
            </a:pPr>
            <a:r>
              <a:rPr lang="en-US"/>
              <a:t>Sử dụng ngôn ngữ Java và Android Studio.</a:t>
            </a:r>
          </a:p>
          <a:p>
            <a:pPr>
              <a:buFont typeface="Wingdings" panose="05000000000000000000" pitchFamily="2" charset="2"/>
              <a:buChar char="ü"/>
            </a:pPr>
            <a:r>
              <a:rPr lang="en-US"/>
              <a:t>Áp dụng cơ sở dữ liệu SQLite để lưu trữ dữ liệu.</a:t>
            </a:r>
          </a:p>
          <a:p>
            <a:pPr>
              <a:buFont typeface="Wingdings" panose="05000000000000000000" pitchFamily="2" charset="2"/>
              <a:buChar char="ü"/>
            </a:pPr>
            <a:r>
              <a:rPr lang="en-US"/>
              <a:t>Thiết kế hệ thống theo mô hình DAO giúp dễ bảo trì và mở rộng.</a:t>
            </a:r>
          </a:p>
          <a:p>
            <a:pPr>
              <a:buFont typeface="Wingdings" panose="05000000000000000000" pitchFamily="2" charset="2"/>
              <a:buChar char="ü"/>
            </a:pPr>
            <a:r>
              <a:rPr lang="en-US"/>
              <a:t>Xây dựng giao diện trực quan, dễ sử dụng trên thiết bị Android.</a:t>
            </a:r>
          </a:p>
          <a:p>
            <a:pPr marL="0" indent="0">
              <a:buNone/>
            </a:pPr>
            <a:endParaRPr lang="en-US"/>
          </a:p>
        </p:txBody>
      </p:sp>
      <p:sp>
        <p:nvSpPr>
          <p:cNvPr id="8" name="TextBox 7">
            <a:extLst>
              <a:ext uri="{FF2B5EF4-FFF2-40B4-BE49-F238E27FC236}">
                <a16:creationId xmlns:a16="http://schemas.microsoft.com/office/drawing/2014/main" id="{27EBE7D0-7F3C-413A-B328-8754E40161D9}"/>
              </a:ext>
            </a:extLst>
          </p:cNvPr>
          <p:cNvSpPr txBox="1"/>
          <p:nvPr/>
        </p:nvSpPr>
        <p:spPr>
          <a:xfrm>
            <a:off x="6350924" y="3790604"/>
            <a:ext cx="5474731" cy="1960986"/>
          </a:xfrm>
          <a:prstGeom prst="rect">
            <a:avLst/>
          </a:prstGeom>
          <a:noFill/>
        </p:spPr>
        <p:txBody>
          <a:bodyPr wrap="square">
            <a:spAutoFit/>
          </a:bodyPr>
          <a:lstStyle/>
          <a:p>
            <a:r>
              <a:rPr lang="en-US" sz="1300" b="1"/>
              <a:t>Về học thuật</a:t>
            </a:r>
          </a:p>
          <a:p>
            <a:pPr marL="285750" indent="-285750">
              <a:buFont typeface="Wingdings" panose="05000000000000000000" pitchFamily="2" charset="2"/>
              <a:buChar char="ü"/>
            </a:pPr>
            <a:r>
              <a:rPr lang="en-US" sz="1300"/>
              <a:t>Thực hiện đầy đủ các bước:</a:t>
            </a:r>
          </a:p>
          <a:p>
            <a:pPr marL="404813" indent="-285750">
              <a:lnSpc>
                <a:spcPct val="150000"/>
              </a:lnSpc>
              <a:buFont typeface="Wingdings" panose="05000000000000000000" pitchFamily="2" charset="2"/>
              <a:buChar char="q"/>
            </a:pPr>
            <a:r>
              <a:rPr lang="en-US" sz="1300"/>
              <a:t>Khảo sát yêu cầu. </a:t>
            </a:r>
          </a:p>
          <a:p>
            <a:pPr marL="404813" indent="-285750">
              <a:lnSpc>
                <a:spcPct val="150000"/>
              </a:lnSpc>
              <a:buFont typeface="Wingdings" panose="05000000000000000000" pitchFamily="2" charset="2"/>
              <a:buChar char="q"/>
            </a:pPr>
            <a:r>
              <a:rPr lang="en-US" sz="1300"/>
              <a:t>Phân tích hệ thống. </a:t>
            </a:r>
          </a:p>
          <a:p>
            <a:pPr marL="404813" indent="-285750">
              <a:lnSpc>
                <a:spcPct val="150000"/>
              </a:lnSpc>
              <a:buFont typeface="Wingdings" panose="05000000000000000000" pitchFamily="2" charset="2"/>
              <a:buChar char="q"/>
            </a:pPr>
            <a:r>
              <a:rPr lang="en-US" sz="1300"/>
              <a:t>Thiết kế UML. </a:t>
            </a:r>
          </a:p>
          <a:p>
            <a:pPr marL="404813" indent="-285750">
              <a:lnSpc>
                <a:spcPct val="150000"/>
              </a:lnSpc>
              <a:buFont typeface="Wingdings" panose="05000000000000000000" pitchFamily="2" charset="2"/>
              <a:buChar char="q"/>
            </a:pPr>
            <a:r>
              <a:rPr lang="en-US" sz="1300"/>
              <a:t>Thiết kế cơ sở dữ liệu. </a:t>
            </a:r>
          </a:p>
          <a:p>
            <a:pPr marL="404813" indent="-285750">
              <a:lnSpc>
                <a:spcPct val="150000"/>
              </a:lnSpc>
              <a:buFont typeface="Wingdings" panose="05000000000000000000" pitchFamily="2" charset="2"/>
              <a:buChar char="q"/>
            </a:pPr>
            <a:r>
              <a:rPr lang="en-US" sz="1300"/>
              <a:t>Lập trình và kiểm thử.</a:t>
            </a:r>
          </a:p>
        </p:txBody>
      </p:sp>
    </p:spTree>
    <p:extLst>
      <p:ext uri="{BB962C8B-B14F-4D97-AF65-F5344CB8AC3E}">
        <p14:creationId xmlns:p14="http://schemas.microsoft.com/office/powerpoint/2010/main" val="2450324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D6E3-C38B-AB68-5AE3-EF67BED34139}"/>
              </a:ext>
            </a:extLst>
          </p:cNvPr>
          <p:cNvSpPr>
            <a:spLocks noGrp="1"/>
          </p:cNvSpPr>
          <p:nvPr>
            <p:ph type="title"/>
          </p:nvPr>
        </p:nvSpPr>
        <p:spPr/>
        <p:txBody>
          <a:bodyPr/>
          <a:lstStyle/>
          <a:p>
            <a:r>
              <a:rPr lang="vi-VN"/>
              <a:t>Hạn chế và hướng phát triển</a:t>
            </a:r>
            <a:endParaRPr lang="en-US"/>
          </a:p>
        </p:txBody>
      </p:sp>
      <p:sp>
        <p:nvSpPr>
          <p:cNvPr id="3" name="Content Placeholder 2">
            <a:extLst>
              <a:ext uri="{FF2B5EF4-FFF2-40B4-BE49-F238E27FC236}">
                <a16:creationId xmlns:a16="http://schemas.microsoft.com/office/drawing/2014/main" id="{CB78EC62-5475-2743-E389-E9895F8D2349}"/>
              </a:ext>
            </a:extLst>
          </p:cNvPr>
          <p:cNvSpPr>
            <a:spLocks noGrp="1"/>
          </p:cNvSpPr>
          <p:nvPr>
            <p:ph idx="1"/>
          </p:nvPr>
        </p:nvSpPr>
        <p:spPr/>
        <p:txBody>
          <a:bodyPr>
            <a:normAutofit fontScale="77500" lnSpcReduction="20000"/>
          </a:bodyPr>
          <a:lstStyle/>
          <a:p>
            <a:pPr marL="0" indent="0">
              <a:buNone/>
            </a:pPr>
            <a:r>
              <a:rPr lang="en-US" b="1"/>
              <a:t>Hạn chế</a:t>
            </a:r>
            <a:endParaRPr lang="vi-VN" b="1"/>
          </a:p>
          <a:p>
            <a:pPr>
              <a:buFont typeface="Wingdings" panose="05000000000000000000" pitchFamily="2" charset="2"/>
              <a:buChar char="ü"/>
            </a:pPr>
            <a:r>
              <a:rPr lang="en-US"/>
              <a:t>Dữ liệu chỉ được lưu cục bộ bằng SQLite.</a:t>
            </a:r>
            <a:endParaRPr lang="vi-VN"/>
          </a:p>
          <a:p>
            <a:pPr>
              <a:buFont typeface="Wingdings" panose="05000000000000000000" pitchFamily="2" charset="2"/>
              <a:buChar char="ü"/>
            </a:pPr>
            <a:r>
              <a:rPr lang="en-US"/>
              <a:t>Chưa hỗ trợ đồng bộ dữ liệu trực tuyến.</a:t>
            </a:r>
            <a:endParaRPr lang="vi-VN"/>
          </a:p>
          <a:p>
            <a:pPr>
              <a:buFont typeface="Wingdings" panose="05000000000000000000" pitchFamily="2" charset="2"/>
              <a:buChar char="ü"/>
            </a:pPr>
            <a:r>
              <a:rPr lang="en-US"/>
              <a:t>Chưa có chức năng thi trực tuyến nhiều người dùng.</a:t>
            </a:r>
            <a:endParaRPr lang="vi-VN"/>
          </a:p>
          <a:p>
            <a:pPr>
              <a:buFont typeface="Wingdings" panose="05000000000000000000" pitchFamily="2" charset="2"/>
              <a:buChar char="ü"/>
            </a:pPr>
            <a:r>
              <a:rPr lang="en-US"/>
              <a:t>Giao diện vẫn còn đơn giản.</a:t>
            </a:r>
            <a:endParaRPr lang="en-US" b="1"/>
          </a:p>
          <a:p>
            <a:pPr marL="0" indent="0">
              <a:buNone/>
            </a:pPr>
            <a:r>
              <a:rPr lang="en-US" b="1"/>
              <a:t>Hướng phát triển</a:t>
            </a:r>
          </a:p>
          <a:p>
            <a:pPr>
              <a:buFont typeface="Wingdings" panose="05000000000000000000" pitchFamily="2" charset="2"/>
              <a:buChar char="ü"/>
            </a:pPr>
            <a:r>
              <a:rPr lang="en-US"/>
              <a:t>Tích hợp Firebase hoặc MySQL Server.</a:t>
            </a:r>
            <a:endParaRPr lang="vi-VN"/>
          </a:p>
          <a:p>
            <a:pPr>
              <a:buFont typeface="Wingdings" panose="05000000000000000000" pitchFamily="2" charset="2"/>
              <a:buChar char="ü"/>
            </a:pPr>
            <a:r>
              <a:rPr lang="en-US"/>
              <a:t>Đồng bộ dữ liệu qua Internet.</a:t>
            </a:r>
            <a:endParaRPr lang="vi-VN"/>
          </a:p>
          <a:p>
            <a:pPr>
              <a:buFont typeface="Wingdings" panose="05000000000000000000" pitchFamily="2" charset="2"/>
              <a:buChar char="ü"/>
            </a:pPr>
            <a:r>
              <a:rPr lang="en-US"/>
              <a:t>Sinh đề thi ngẫu nhiên.</a:t>
            </a:r>
            <a:endParaRPr lang="vi-VN"/>
          </a:p>
          <a:p>
            <a:pPr>
              <a:buFont typeface="Wingdings" panose="05000000000000000000" pitchFamily="2" charset="2"/>
              <a:buChar char="ü"/>
            </a:pPr>
            <a:r>
              <a:rPr lang="en-US"/>
              <a:t>Bổ sung chức năng xếp hạng người dùng.</a:t>
            </a:r>
            <a:endParaRPr lang="vi-VN"/>
          </a:p>
          <a:p>
            <a:pPr>
              <a:buFont typeface="Wingdings" panose="05000000000000000000" pitchFamily="2" charset="2"/>
              <a:buChar char="ü"/>
            </a:pPr>
            <a:r>
              <a:rPr lang="en-US"/>
              <a:t>Nâng cấp giao diện và trải nghiệm người dùng.</a:t>
            </a:r>
            <a:endParaRPr lang="vi-VN"/>
          </a:p>
          <a:p>
            <a:pPr>
              <a:buFont typeface="Wingdings" panose="05000000000000000000" pitchFamily="2" charset="2"/>
              <a:buChar char="ü"/>
            </a:pPr>
            <a:r>
              <a:rPr lang="en-US"/>
              <a:t>Xuất báo cáo kết quả thi dưới dạng PDF.</a:t>
            </a:r>
          </a:p>
        </p:txBody>
      </p:sp>
    </p:spTree>
    <p:extLst>
      <p:ext uri="{BB962C8B-B14F-4D97-AF65-F5344CB8AC3E}">
        <p14:creationId xmlns:p14="http://schemas.microsoft.com/office/powerpoint/2010/main" val="3856823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92E55-F383-1497-FDC8-B2C29D2792DF}"/>
              </a:ext>
            </a:extLst>
          </p:cNvPr>
          <p:cNvSpPr>
            <a:spLocks noGrp="1"/>
          </p:cNvSpPr>
          <p:nvPr>
            <p:ph type="title"/>
          </p:nvPr>
        </p:nvSpPr>
        <p:spPr/>
        <p:txBody>
          <a:bodyPr/>
          <a:lstStyle/>
          <a:p>
            <a:r>
              <a:rPr lang="vi-VN"/>
              <a:t>Kết luận</a:t>
            </a:r>
            <a:endParaRPr lang="en-US"/>
          </a:p>
        </p:txBody>
      </p:sp>
      <p:sp>
        <p:nvSpPr>
          <p:cNvPr id="3" name="Content Placeholder 2">
            <a:extLst>
              <a:ext uri="{FF2B5EF4-FFF2-40B4-BE49-F238E27FC236}">
                <a16:creationId xmlns:a16="http://schemas.microsoft.com/office/drawing/2014/main" id="{D78AC78F-351C-3B88-E61E-C5FBB9A12633}"/>
              </a:ext>
            </a:extLst>
          </p:cNvPr>
          <p:cNvSpPr>
            <a:spLocks noGrp="1"/>
          </p:cNvSpPr>
          <p:nvPr>
            <p:ph idx="1"/>
          </p:nvPr>
        </p:nvSpPr>
        <p:spPr/>
        <p:txBody>
          <a:bodyPr/>
          <a:lstStyle/>
          <a:p>
            <a:pPr algn="just">
              <a:buFont typeface="Wingdings" panose="05000000000000000000" pitchFamily="2" charset="2"/>
              <a:buChar char="ü"/>
            </a:pPr>
            <a:r>
              <a:rPr lang="en-US"/>
              <a:t>Đề tài đã xây dựng thành công ứng dụng thi trắc nghiệm trên Android, đáp ứng các yêu cầu đặt ra ban đầu. Hệ thống hỗ trợ đầy đủ các chức năng cho người dùng và quản trị viên, giúp quá trình ôn tập, kiểm tra kiến thức và quản lý đề thi được thực hiện nhanh chóng, thuận tiện.</a:t>
            </a:r>
          </a:p>
          <a:p>
            <a:pPr algn="just">
              <a:buFont typeface="Wingdings" panose="05000000000000000000" pitchFamily="2" charset="2"/>
              <a:buChar char="ü"/>
            </a:pPr>
            <a:r>
              <a:rPr lang="en-US"/>
              <a:t>Thông qua quá trình thực hiện đề tài, </a:t>
            </a:r>
            <a:r>
              <a:rPr lang="vi-VN"/>
              <a:t>em</a:t>
            </a:r>
            <a:r>
              <a:rPr lang="en-US"/>
              <a:t> đã vận dụng được các kiến thức về:</a:t>
            </a:r>
          </a:p>
          <a:p>
            <a:pPr marL="342900" algn="just">
              <a:buFont typeface="Wingdings" panose="05000000000000000000" pitchFamily="2" charset="2"/>
              <a:buChar char="q"/>
            </a:pPr>
            <a:r>
              <a:rPr lang="en-US"/>
              <a:t>Lập trình Android. </a:t>
            </a:r>
          </a:p>
          <a:p>
            <a:pPr marL="342900">
              <a:buFont typeface="Wingdings" panose="05000000000000000000" pitchFamily="2" charset="2"/>
              <a:buChar char="q"/>
            </a:pPr>
            <a:r>
              <a:rPr lang="en-US"/>
              <a:t>Thiết kế cơ sở dữ liệu SQLite. </a:t>
            </a:r>
          </a:p>
          <a:p>
            <a:pPr marL="342900">
              <a:buFont typeface="Wingdings" panose="05000000000000000000" pitchFamily="2" charset="2"/>
              <a:buChar char="q"/>
            </a:pPr>
            <a:r>
              <a:rPr lang="en-US"/>
              <a:t>Phân tích và thiết kế hệ thống bằng UML. </a:t>
            </a:r>
          </a:p>
          <a:p>
            <a:pPr marL="342900">
              <a:buFont typeface="Wingdings" panose="05000000000000000000" pitchFamily="2" charset="2"/>
              <a:buChar char="q"/>
            </a:pPr>
            <a:r>
              <a:rPr lang="en-US"/>
              <a:t>Kiểm thử và triển khai phần mềm. </a:t>
            </a:r>
          </a:p>
          <a:p>
            <a:endParaRPr lang="en-US"/>
          </a:p>
        </p:txBody>
      </p:sp>
    </p:spTree>
    <p:extLst>
      <p:ext uri="{BB962C8B-B14F-4D97-AF65-F5344CB8AC3E}">
        <p14:creationId xmlns:p14="http://schemas.microsoft.com/office/powerpoint/2010/main" val="135818977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41</TotalTime>
  <Words>966</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Neue Haas Grotesk Text Pro</vt:lpstr>
      <vt:lpstr>Wingdings</vt:lpstr>
      <vt:lpstr>VanillaVTI</vt:lpstr>
      <vt:lpstr>Tên đề tài: Ứng dụng Thi Trắc Nghiệm Trên Android</vt:lpstr>
      <vt:lpstr>Giới thiệu đề tài</vt:lpstr>
      <vt:lpstr>Phân tích yêu cầu</vt:lpstr>
      <vt:lpstr>Biểu đồ use case tổng quát</vt:lpstr>
      <vt:lpstr>Biểu đồ lớp thực thể</vt:lpstr>
      <vt:lpstr>Thiết kế cơ sở dữ liệu và kiến trúc hệ thống</vt:lpstr>
      <vt:lpstr>Biểu đồ tuần tự - Làm bài thi</vt:lpstr>
      <vt:lpstr>Biểu đồ tuần tự - Quản lý đề thi</vt:lpstr>
      <vt:lpstr>Giao diện Đăng nhập – Đăng ký</vt:lpstr>
      <vt:lpstr>Phân hệ quản trị viên</vt:lpstr>
      <vt:lpstr>Phân hệ quản trị viên</vt:lpstr>
      <vt:lpstr>Phân hệ người dùng</vt:lpstr>
      <vt:lpstr>Phân hệ người dùng</vt:lpstr>
      <vt:lpstr>Phân hệ người dùng</vt:lpstr>
      <vt:lpstr>Kết quả đạt được</vt:lpstr>
      <vt:lpstr>Hạn chế và hướng phát triển</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Manh Cao</dc:creator>
  <cp:lastModifiedBy>Manh Cao</cp:lastModifiedBy>
  <cp:revision>1</cp:revision>
  <dcterms:created xsi:type="dcterms:W3CDTF">2026-06-24T02:20:13Z</dcterms:created>
  <dcterms:modified xsi:type="dcterms:W3CDTF">2026-06-24T03:02:09Z</dcterms:modified>
</cp:coreProperties>
</file>